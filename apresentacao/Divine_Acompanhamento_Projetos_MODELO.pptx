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hyperlink" Target="https://www.exemplo.com/pesquisa-barrinha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0A53A"/>
                </a:solidFill>
                <a:latin typeface="Segoe UI"/>
              </a:rPr>
              <a:t>P &amp; D   ·   P E S Q U I S A   &amp;   D E S E N V O L V I M E N T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Acompanhamento</a:t>
            </a:r>
          </a:p>
          <a:p>
            <a:pPr algn="l">
              <a:lnSpc>
                <a:spcPct val="100000"/>
              </a:lnSpc>
            </a:pPr>
            <a:r>
              <a:rPr sz="4500" b="1" i="0">
                <a:solidFill>
                  <a:srgbClr val="FFFFFF"/>
                </a:solidFill>
                <a:latin typeface="Segoe UI"/>
              </a:rPr>
              <a:t>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E7D8C2"/>
                </a:solidFill>
                <a:latin typeface="Segoe UI"/>
              </a:rPr>
              <a:t>Status do portfólio de novos produtos — andamento, pendências e próximos passos, projeto a projeto.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572000"/>
            <a:ext cx="3017520" cy="47548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300" b="1">
                <a:solidFill>
                  <a:srgbClr val="F4E6CC"/>
                </a:solidFill>
                <a:latin typeface="Segoe UI"/>
              </a:rPr>
              <a:t>Reunião  ·  Junho / 2026</a:t>
            </a:r>
          </a:p>
        </p:txBody>
      </p:sp>
      <p:pic>
        <p:nvPicPr>
          <p:cNvPr id="8" name="Picture 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49240"/>
            <a:ext cx="2799184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6355080"/>
            <a:ext cx="27991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3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3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35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ALTA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Paloma e Isabele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15/06/2026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955547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9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  <a:hlinkClick r:id="rId4"/>
              </a:rPr>
              <a:t>🔎  Pesquisa de mercado  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30/06/2026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1993392"/>
          <a:ext cx="5504688" cy="4334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Trade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08/06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3. Custo e preço de venda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Camila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4. Viabilidade produtiva/teste em linha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Carla e Samuel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03/08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5. Homologação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CQ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17/07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6. Volume (comercial)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Mateus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7. Engenharias e FTs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8.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24/07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9. Compras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10.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P&amp;D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17/07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11. Produção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12. Comunicado vendedores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13. Campanha de lançamento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Marketing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Oval 17"/>
          <p:cNvSpPr/>
          <p:nvPr/>
        </p:nvSpPr>
        <p:spPr>
          <a:xfrm>
            <a:off x="3394710" y="233400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Oval 18"/>
          <p:cNvSpPr/>
          <p:nvPr/>
        </p:nvSpPr>
        <p:spPr>
          <a:xfrm>
            <a:off x="3394710" y="2644901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2955797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26669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2" name="Oval 21"/>
          <p:cNvSpPr/>
          <p:nvPr/>
        </p:nvSpPr>
        <p:spPr>
          <a:xfrm>
            <a:off x="3394710" y="3577590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3" name="Oval 22"/>
          <p:cNvSpPr/>
          <p:nvPr/>
        </p:nvSpPr>
        <p:spPr>
          <a:xfrm>
            <a:off x="3394710" y="388848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4199382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4510278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Oval 25"/>
          <p:cNvSpPr/>
          <p:nvPr/>
        </p:nvSpPr>
        <p:spPr>
          <a:xfrm>
            <a:off x="3394710" y="482117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94710" y="513207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94710" y="5442966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94710" y="5753862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94710" y="60647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Aguardar fechamento de formulação;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Moinho de rolos;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Concluir ajustes no moinho de rolos;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Fechar formulações;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Projeto dentro do cronograma.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9" name="Oval 48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51" name="Oval 50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53" name="Oval 52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9" name="Oval 58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61" name="Oval 60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63" name="Oval 62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35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3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Barrinhas FOR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A definir junto ao fechamento de formulação e custo (etapas 2 e 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ACOMPANHAMENTO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280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PRIORIDADE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65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28016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E7D8C2"/>
                </a:solidFill>
                <a:latin typeface="Segoe UI"/>
              </a:rPr>
              <a:t>STATUS GERAL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49840" y="3657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11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921715"/>
            <a:ext cx="12191695" cy="365760"/>
          </a:xfrm>
          <a:prstGeom prst="rect">
            <a:avLst/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982980"/>
            <a:ext cx="768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2419"/>
                </a:solidFill>
                <a:latin typeface="Segoe UI"/>
              </a:rPr>
              <a:t>Responsável: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  <a:r>
              <a:rPr sz="1000" b="1" i="0">
                <a:solidFill>
                  <a:srgbClr val="3E2419"/>
                </a:solidFill>
                <a:latin typeface="Segoe UI"/>
              </a:rPr>
              <a:t>      Data de abertura: </a:t>
            </a:r>
            <a:r>
              <a:rPr sz="100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98298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1">
                <a:solidFill>
                  <a:srgbClr val="9C8C72"/>
                </a:solidFill>
                <a:latin typeface="Segoe UI"/>
              </a:rPr>
              <a:t>Atualizado: 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1481328"/>
            <a:ext cx="5989320" cy="49560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6420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DETALHADO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66928" y="1993392"/>
          <a:ext cx="5504688" cy="4334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6040"/>
                <a:gridCol w="658368"/>
                <a:gridCol w="13258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ETAPA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RESPONSÁVEL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7A5238"/>
                          </a:solidFill>
                          <a:latin typeface="Segoe UI"/>
                        </a:rPr>
                        <a:t>PREVISTO</a:t>
                      </a:r>
                    </a:p>
                  </a:txBody>
                  <a:tcPr anchor="ctr" marL="64008" marR="27432" marT="9144" marB="9144">
                    <a:solidFill>
                      <a:srgbClr val="F4EAD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1. Pesquisa de mercado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2. Desenv. da formulação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3. Custo e preço de venda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4. Viabilidade produtiva/teste em linha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5. Homologação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6. Volume (comercial)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7. Engenharias e FTs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8. Criação da arte e etiquetas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9. Compras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10. Tabela comercial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11. Produção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12. Comunicado vendedores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9F3E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E2419"/>
                          </a:solidFill>
                          <a:latin typeface="Segoe UI"/>
                        </a:rPr>
                        <a:t>13. Campanha de lançamento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E2419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5A3A2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3394710" y="2334006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94710" y="2644901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4710" y="2955797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94710" y="326669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94710" y="357759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94710" y="3888485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94710" y="4199382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94710" y="451027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94710" y="4821174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94710" y="5132070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94710" y="5442966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94710" y="5753862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94710" y="606475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92240" y="148132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29984" y="167335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168706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9A6A12"/>
                </a:solidFill>
                <a:latin typeface="Segoe UI"/>
              </a:rPr>
              <a:t>PENDÊNCIAS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1424" y="204825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3127248"/>
            <a:ext cx="5349240" cy="15179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29984" y="3319272"/>
            <a:ext cx="237744" cy="23774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68312" y="3332988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Segoe UI"/>
              </a:rPr>
              <a:t>PRÓXIMAS AÇÕES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1424" y="3694176"/>
            <a:ext cx="48280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i="0">
                <a:solidFill>
                  <a:srgbClr val="C9932E"/>
                </a:solidFill>
                <a:latin typeface="Segoe UI"/>
              </a:rPr>
              <a:t>•  </a:t>
            </a:r>
            <a:r>
              <a:rPr sz="1050" b="0" i="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4773168"/>
            <a:ext cx="5349240" cy="16642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9984" y="4965192"/>
            <a:ext cx="237744" cy="23774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4978907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OBSERVAÇÕES E COMENTÁRIOS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1424" y="5349240"/>
            <a:ext cx="48280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347472" y="6656832"/>
            <a:ext cx="109728" cy="109728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Concluído</a:t>
            </a:r>
          </a:p>
        </p:txBody>
      </p:sp>
      <p:sp>
        <p:nvSpPr>
          <p:cNvPr id="49" name="Oval 48"/>
          <p:cNvSpPr/>
          <p:nvPr/>
        </p:nvSpPr>
        <p:spPr>
          <a:xfrm>
            <a:off x="1624888" y="6656832"/>
            <a:ext cx="109728" cy="109728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89480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Em andamento</a:t>
            </a:r>
          </a:p>
        </p:txBody>
      </p:sp>
      <p:sp>
        <p:nvSpPr>
          <p:cNvPr id="51" name="Oval 50"/>
          <p:cNvSpPr/>
          <p:nvPr/>
        </p:nvSpPr>
        <p:spPr>
          <a:xfrm>
            <a:off x="3157423" y="6656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22015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Não iniciado</a:t>
            </a:r>
          </a:p>
        </p:txBody>
      </p:sp>
      <p:sp>
        <p:nvSpPr>
          <p:cNvPr id="53" name="Oval 52"/>
          <p:cNvSpPr/>
          <p:nvPr/>
        </p:nvSpPr>
        <p:spPr>
          <a:xfrm>
            <a:off x="4689957" y="6656832"/>
            <a:ext cx="109728" cy="109728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54549" y="6615684"/>
            <a:ext cx="13716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E7D8C2"/>
                </a:solidFill>
                <a:latin typeface="Segoe UI"/>
              </a:rPr>
              <a:t>Bloqueado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2390120" y="1481328"/>
            <a:ext cx="1417320" cy="2834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99848" y="1591056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E2419"/>
                </a:solidFill>
                <a:latin typeface="Segoe UI"/>
              </a:rPr>
              <a:t>PALETA</a:t>
            </a:r>
          </a:p>
          <a:p>
            <a:pPr algn="l"/>
            <a:r>
              <a:rPr sz="800" b="0" i="1">
                <a:solidFill>
                  <a:srgbClr val="9C8C72"/>
                </a:solidFill>
                <a:latin typeface="Segoe UI"/>
              </a:rPr>
              <a:t>copie e cole ↓</a:t>
            </a:r>
          </a:p>
        </p:txBody>
      </p:sp>
      <p:sp>
        <p:nvSpPr>
          <p:cNvPr id="57" name="Oval 56"/>
          <p:cNvSpPr/>
          <p:nvPr/>
        </p:nvSpPr>
        <p:spPr>
          <a:xfrm>
            <a:off x="12556998" y="2151126"/>
            <a:ext cx="214884" cy="214884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47320" y="2167128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Concluído</a:t>
            </a:r>
          </a:p>
        </p:txBody>
      </p:sp>
      <p:sp>
        <p:nvSpPr>
          <p:cNvPr id="59" name="Oval 58"/>
          <p:cNvSpPr/>
          <p:nvPr/>
        </p:nvSpPr>
        <p:spPr>
          <a:xfrm>
            <a:off x="12556998" y="2663190"/>
            <a:ext cx="214884" cy="214884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47320" y="2679192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Andamento</a:t>
            </a:r>
          </a:p>
        </p:txBody>
      </p:sp>
      <p:sp>
        <p:nvSpPr>
          <p:cNvPr id="61" name="Oval 60"/>
          <p:cNvSpPr/>
          <p:nvPr/>
        </p:nvSpPr>
        <p:spPr>
          <a:xfrm>
            <a:off x="12556998" y="3175254"/>
            <a:ext cx="214884" cy="214884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47320" y="3191256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Bloqueado</a:t>
            </a:r>
          </a:p>
        </p:txBody>
      </p:sp>
      <p:sp>
        <p:nvSpPr>
          <p:cNvPr id="63" name="Oval 62"/>
          <p:cNvSpPr/>
          <p:nvPr/>
        </p:nvSpPr>
        <p:spPr>
          <a:xfrm>
            <a:off x="12556998" y="3687318"/>
            <a:ext cx="214884" cy="2148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847320" y="3703320"/>
            <a:ext cx="91440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5A3A2A"/>
                </a:solidFill>
                <a:latin typeface="Segoe UI"/>
              </a:rPr>
              <a:t>Não inic.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35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35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IMAGENS DO PRODUTO &amp; ORÇAMENTO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[ Nome do Projeto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E0A5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7852" y="2788920"/>
            <a:ext cx="768096" cy="768096"/>
          </a:xfrm>
          <a:prstGeom prst="roundRect">
            <a:avLst>
              <a:gd name="adj" fmla="val 25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52444" y="2926080"/>
            <a:ext cx="155448" cy="1554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3534156" y="3127248"/>
            <a:ext cx="475488" cy="329184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989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3E2419"/>
                </a:solidFill>
                <a:latin typeface="Segoe UI"/>
              </a:rPr>
              <a:t>Espaço para imagem do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7822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C8C72"/>
                </a:solidFill>
                <a:latin typeface="Segoe UI"/>
              </a:rPr>
              <a:t>(insira aqui fotos, mockups, protótipos ou capturas de tela)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44383" y="1389888"/>
            <a:ext cx="237744" cy="237744"/>
          </a:xfrm>
          <a:prstGeom prst="ellipse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1" y="1403604"/>
            <a:ext cx="4114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ORÇAMENTO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10512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ESTIMADO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002536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468880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CUSTO REAL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660904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R$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127248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FORNECEDOR(ES)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319272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785615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APROVAÇÃO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31920" cy="310896"/>
          </a:xfrm>
          <a:prstGeom prst="roundRect">
            <a:avLst>
              <a:gd name="adj" fmla="val 16000"/>
            </a:avLst>
          </a:prstGeom>
          <a:solidFill>
            <a:srgbClr val="F4EAD7"/>
          </a:solidFill>
          <a:ln w="9525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45720" tIns="0" bIns="0"/>
          <a:lstStyle/>
          <a:p>
            <a:pPr algn="l"/>
            <a:r>
              <a:rPr sz="1050" b="1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443983"/>
            <a:ext cx="3931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9C8C72"/>
                </a:solidFill>
                <a:latin typeface="Segoe UI"/>
              </a:rPr>
              <a:t>OBSERVAÇÕES SOBRE O ORÇAMENTO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636007"/>
            <a:ext cx="393192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9525">
            <a:solidFill>
              <a:srgbClr val="E8CF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73152" tIns="64008" wrap="square"/>
          <a:lstStyle/>
          <a:p>
            <a:pPr algn="l"/>
            <a:r>
              <a:rPr sz="1000">
                <a:solidFill>
                  <a:srgbClr val="5A3A2A"/>
                </a:solidFill>
                <a:latin typeface="Segoe U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80960" y="4636007"/>
            <a:ext cx="50292" cy="1024128"/>
          </a:xfrm>
          <a:prstGeom prst="rect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3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ad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96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6112"/>
            <a:ext cx="12191695" cy="25603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1168"/>
            <a:ext cx="1511559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68759" y="1417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0A53A"/>
                </a:solidFill>
                <a:latin typeface="Segoe UI"/>
              </a:rPr>
              <a:t>GUIA RÁPIDO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471" y="34290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Segoe UI"/>
              </a:rPr>
              <a:t>Como usar este modelo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690372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PASSO A PASSO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64008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1.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Novo projeto: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selecione os dois slides-modelo “[ Nome do Projeto ]”, duplique (Ctrl+D) e mova o par para o final.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2.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Cabeçalho: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troque o nome do projeto, a prioridade e o status geral (a caixinha dourada é só texto + cor de preenchimento).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3.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Status das etapas: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clique na bolinha → guia Formatar → Preenchimento da Forma → escolha a cor (verde, âmbar, vermelho ou branco). Para o “✓”, copie uma bolinha verde já pronta.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4.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Tabela: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edite etapa, responsável e previsão como texto normal; linhas podem ser adicionadas ou removidas.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5.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Slide de imagens: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arraste a foto para dentro da área tracejada (ou Inserir → Imagens) e apague o ícone de espaço reservado.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100" b="1" i="0">
                <a:solidFill>
                  <a:srgbClr val="C9932E"/>
                </a:solidFill>
                <a:latin typeface="Segoe UI"/>
              </a:rPr>
              <a:t>6.  </a:t>
            </a:r>
            <a:r>
              <a:rPr sz="1100" b="1" i="0">
                <a:solidFill>
                  <a:srgbClr val="3E2419"/>
                </a:solidFill>
                <a:latin typeface="Segoe UI"/>
              </a:rPr>
              <a:t>Orçamento:</a:t>
            </a:r>
            <a:r>
              <a:rPr sz="1100" b="0" i="0">
                <a:solidFill>
                  <a:srgbClr val="5A3A2A"/>
                </a:solidFill>
                <a:latin typeface="Segoe UI"/>
              </a:rPr>
              <a:t> preencha os campos de custo, fornecedor e aprovação; use a caixa amarela para observações.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188720"/>
            <a:ext cx="4480560" cy="5120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3D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389888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LEGENDA DE STATUS</a:t>
            </a:r>
          </a:p>
        </p:txBody>
      </p:sp>
      <p:sp>
        <p:nvSpPr>
          <p:cNvPr id="12" name="Oval 11"/>
          <p:cNvSpPr/>
          <p:nvPr/>
        </p:nvSpPr>
        <p:spPr>
          <a:xfrm>
            <a:off x="7690104" y="1874519"/>
            <a:ext cx="256032" cy="256032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7451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Concluído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11226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finalizada e validada.</a:t>
            </a:r>
          </a:p>
        </p:txBody>
      </p:sp>
      <p:sp>
        <p:nvSpPr>
          <p:cNvPr id="15" name="Oval 14"/>
          <p:cNvSpPr/>
          <p:nvPr/>
        </p:nvSpPr>
        <p:spPr>
          <a:xfrm>
            <a:off x="7690104" y="2532887"/>
            <a:ext cx="256032" cy="256032"/>
          </a:xfrm>
          <a:prstGeom prst="ellipse">
            <a:avLst/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53288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Em andamento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70631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Etapa em execução.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7690104" y="3191255"/>
            <a:ext cx="256032" cy="256032"/>
          </a:xfrm>
          <a:prstGeom prst="ellipse">
            <a:avLst/>
          </a:prstGeom>
          <a:solidFill>
            <a:srgbClr val="C0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912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Bloqueado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42899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Travado — depende de decisão ou terceiro.</a:t>
            </a:r>
          </a:p>
        </p:txBody>
      </p:sp>
      <p:sp>
        <p:nvSpPr>
          <p:cNvPr id="21" name="Oval 20"/>
          <p:cNvSpPr/>
          <p:nvPr/>
        </p:nvSpPr>
        <p:spPr>
          <a:xfrm>
            <a:off x="7690104" y="3849623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DB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3849623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Não iniciado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087367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C8C72"/>
                </a:solidFill>
                <a:latin typeface="Segoe UI"/>
              </a:rPr>
              <a:t>Ainda não começou.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4617720"/>
            <a:ext cx="3840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E2419"/>
                </a:solidFill>
                <a:latin typeface="Segoe UI"/>
              </a:rPr>
              <a:t>STATUS GERAL (cabeçalho)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44383" y="4956048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E0A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EM ANDAMENTO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4956048"/>
            <a:ext cx="1083564" cy="347472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CONCLUÍDO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37292" y="4956048"/>
            <a:ext cx="928116" cy="347472"/>
          </a:xfrm>
          <a:prstGeom prst="roundRect">
            <a:avLst>
              <a:gd name="adj" fmla="val 50000"/>
            </a:avLst>
          </a:prstGeom>
          <a:solidFill>
            <a:srgbClr val="CDB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2A1B12"/>
                </a:solidFill>
                <a:latin typeface="Segoe UI"/>
              </a:rPr>
              <a:t>PAUSADO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44383" y="5431536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BE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9A6A12"/>
                </a:solidFill>
                <a:latin typeface="Segoe UI"/>
              </a:rPr>
              <a:t>EM TESTE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96528" y="5431536"/>
            <a:ext cx="1316736" cy="347472"/>
          </a:xfrm>
          <a:prstGeom prst="roundRect">
            <a:avLst>
              <a:gd name="adj" fmla="val 50000"/>
            </a:avLst>
          </a:prstGeom>
          <a:solidFill>
            <a:srgbClr val="F4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none"/>
          <a:lstStyle/>
          <a:p>
            <a:pPr algn="ctr"/>
            <a:r>
              <a:rPr sz="950" b="1">
                <a:solidFill>
                  <a:srgbClr val="3E2419"/>
                </a:solidFill>
                <a:latin typeface="Segoe UI"/>
              </a:rPr>
              <a:t>PLANEJAMENTO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3E2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5660" y="6611112"/>
            <a:ext cx="615820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41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pa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9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3317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Muito obrigada!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7D8C2"/>
                </a:solidFill>
                <a:latin typeface="Segoe UI"/>
              </a:rPr>
              <a:t>Divine Chocolates · Pesquisa &amp; Desenvolvimento</a:t>
            </a:r>
          </a:p>
        </p:txBody>
      </p:sp>
      <p:pic>
        <p:nvPicPr>
          <p:cNvPr id="6" name="Picture 5" descr="logo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074920"/>
            <a:ext cx="2519265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961888"/>
            <a:ext cx="251926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7D8C2"/>
                </a:solidFill>
                <a:latin typeface="Segoe UI"/>
              </a:rPr>
              <a:t>C H O C O L A T E   D E   V E R D A D 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20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3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3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