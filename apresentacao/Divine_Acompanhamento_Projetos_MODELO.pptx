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4A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4846320"/>
            <a:ext cx="3108960" cy="3108960"/>
          </a:xfrm>
          <a:prstGeom prst="ellipse">
            <a:avLst/>
          </a:prstGeom>
          <a:solidFill>
            <a:srgbClr val="472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0A53A"/>
                </a:solidFill>
                <a:latin typeface="Segoe UI"/>
              </a:rPr>
              <a:t>P &amp; D   ·   P E S Q U I S A   &amp;   D E S E N V O L V I M E N T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Segoe UI"/>
              </a:rPr>
              <a:t>Acompanhamento</a:t>
            </a:r>
          </a:p>
          <a:p>
            <a:pPr algn="l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Segoe UI"/>
              </a:rPr>
              <a:t>de Projetos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E7D8C2"/>
                </a:solidFill>
                <a:latin typeface="Segoe UI"/>
              </a:rPr>
              <a:t>Status do portfólio de novos produtos — andamento, pendências e próximos passos, projeto a projeto.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72000"/>
            <a:ext cx="3017520" cy="47548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C9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1300" b="1">
                <a:solidFill>
                  <a:srgbClr val="F4E6CC"/>
                </a:solidFill>
                <a:latin typeface="Segoe UI"/>
              </a:rPr>
              <a:t>Reunião  ·  Junho /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32120"/>
            <a:ext cx="3657600" cy="7772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38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6327648"/>
            <a:ext cx="45720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7D8C2"/>
                </a:solidFill>
                <a:latin typeface="Segoe UI"/>
              </a:rPr>
              <a:t>C H O C O L A T E   D E   V E R D A D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25603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A83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417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53A"/>
                </a:solidFill>
                <a:latin typeface="Segoe UI"/>
              </a:rPr>
              <a:t>ACOMPANHAMENTO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429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Barrinhas FOR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280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7D8C2"/>
                </a:solidFill>
                <a:latin typeface="Segoe UI"/>
              </a:rPr>
              <a:t>PRIORIDADE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1150" b="1">
                <a:solidFill>
                  <a:srgbClr val="3E2419"/>
                </a:solidFill>
                <a:latin typeface="Segoe UI"/>
              </a:rPr>
              <a:t>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7D8C2"/>
                </a:solidFill>
                <a:latin typeface="Segoe UI"/>
              </a:rPr>
              <a:t>STATUS GERAL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365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1150" b="1">
                <a:solidFill>
                  <a:srgbClr val="2A1B12"/>
                </a:solidFill>
                <a:latin typeface="Segoe UI"/>
              </a:rPr>
              <a:t>EM ANDAMENTO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21715"/>
            <a:ext cx="12191695" cy="365760"/>
          </a:xfrm>
          <a:prstGeom prst="rect">
            <a:avLst/>
          </a:prstGeom>
          <a:solidFill>
            <a:srgbClr val="F4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9829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2419"/>
                </a:solidFill>
                <a:latin typeface="Segoe UI"/>
              </a:rPr>
              <a:t>Responsável: </a:t>
            </a:r>
            <a:r>
              <a:rPr sz="1000" b="0" i="0">
                <a:solidFill>
                  <a:srgbClr val="5A3A2A"/>
                </a:solidFill>
                <a:latin typeface="Segoe UI"/>
              </a:rPr>
              <a:t>Paloma e Isabele</a:t>
            </a:r>
            <a:r>
              <a:rPr sz="1000" b="1" i="0">
                <a:solidFill>
                  <a:srgbClr val="3E2419"/>
                </a:solidFill>
                <a:latin typeface="Segoe UI"/>
              </a:rPr>
              <a:t>      Data de abertura: </a:t>
            </a:r>
            <a:r>
              <a:rPr sz="1000" b="0" i="0">
                <a:solidFill>
                  <a:srgbClr val="5A3A2A"/>
                </a:solidFill>
                <a:latin typeface="Segoe UI"/>
              </a:rPr>
              <a:t>15/06/2026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98298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1">
                <a:solidFill>
                  <a:srgbClr val="9C8C72"/>
                </a:solidFill>
                <a:latin typeface="Segoe UI"/>
              </a:rPr>
              <a:t>Atualizado: 30/06/2026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481328"/>
            <a:ext cx="5989320" cy="4956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66420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STATUS DETALHADO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1993392"/>
          <a:ext cx="5504688" cy="433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658368"/>
                <a:gridCol w="13258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PREVISTO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1. Pesquisa de mercado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Trade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20/06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2. Desenv. da formulação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P&amp;D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10/07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3. Custo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Camila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4. Homologação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CQ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5. Volume (comercial)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Mateus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6. Engenharias e FTs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P&amp;D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15/07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7. Criação da arte e etiquetas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8. Tabela comercial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P&amp;D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9. Comunicado vendedores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10. Lançamento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3394710" y="2380640"/>
            <a:ext cx="214884" cy="21488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Oval 17"/>
          <p:cNvSpPr/>
          <p:nvPr/>
        </p:nvSpPr>
        <p:spPr>
          <a:xfrm>
            <a:off x="3394710" y="2784805"/>
            <a:ext cx="214884" cy="21488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4710" y="3188970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94710" y="3593134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94710" y="3997299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94710" y="4401464"/>
            <a:ext cx="214884" cy="21488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94710" y="4805629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94710" y="5209794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94710" y="5613958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94710" y="6018123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1481328"/>
            <a:ext cx="5349240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29984" y="1673352"/>
            <a:ext cx="237744" cy="23774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687068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A6A12"/>
                </a:solidFill>
                <a:latin typeface="Segoe UI"/>
              </a:rPr>
              <a:t>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2048256"/>
            <a:ext cx="482803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Aguardar fechamento de formulação;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Moinho de rolos;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127248"/>
            <a:ext cx="5349240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29984" y="3319272"/>
            <a:ext cx="237744" cy="23774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332988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Segoe UI"/>
              </a:rPr>
              <a:t>PRÓXIMAS 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694176"/>
            <a:ext cx="482803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Concluir ajustes no moinho de rolos;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Fechar formulações;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773168"/>
            <a:ext cx="5349240" cy="1664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29984" y="4965192"/>
            <a:ext cx="237744" cy="23774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4978907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OBSERVAÇÕES E COMENTÁRIOS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5349240"/>
            <a:ext cx="48280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A3A2A"/>
                </a:solidFill>
                <a:latin typeface="Segoe UI"/>
              </a:rPr>
              <a:t>Projeto dentro do cronograma. Custo e homologação só iniciam após o fechamento da formulação (etapas 2 e 6).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09960" y="6597396"/>
            <a:ext cx="8686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41" name="Oval 40"/>
          <p:cNvSpPr/>
          <p:nvPr/>
        </p:nvSpPr>
        <p:spPr>
          <a:xfrm>
            <a:off x="347472" y="6656832"/>
            <a:ext cx="109728" cy="109728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Concluído</a:t>
            </a:r>
          </a:p>
        </p:txBody>
      </p:sp>
      <p:sp>
        <p:nvSpPr>
          <p:cNvPr id="43" name="Oval 42"/>
          <p:cNvSpPr/>
          <p:nvPr/>
        </p:nvSpPr>
        <p:spPr>
          <a:xfrm>
            <a:off x="1624888" y="6656832"/>
            <a:ext cx="109728" cy="109728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9480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Em andamento</a:t>
            </a:r>
          </a:p>
        </p:txBody>
      </p:sp>
      <p:sp>
        <p:nvSpPr>
          <p:cNvPr id="45" name="Oval 44"/>
          <p:cNvSpPr/>
          <p:nvPr/>
        </p:nvSpPr>
        <p:spPr>
          <a:xfrm>
            <a:off x="3157423" y="66568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2015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Não iniciado</a:t>
            </a:r>
          </a:p>
        </p:txBody>
      </p:sp>
      <p:sp>
        <p:nvSpPr>
          <p:cNvPr id="47" name="Oval 46"/>
          <p:cNvSpPr/>
          <p:nvPr/>
        </p:nvSpPr>
        <p:spPr>
          <a:xfrm>
            <a:off x="4689957" y="6656832"/>
            <a:ext cx="109728" cy="109728"/>
          </a:xfrm>
          <a:prstGeom prst="ellipse">
            <a:avLst/>
          </a:prstGeom>
          <a:solidFill>
            <a:srgbClr val="C0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54549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Bloqueado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25603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A83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417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53A"/>
                </a:solidFill>
                <a:latin typeface="Segoe UI"/>
              </a:rPr>
              <a:t>IMAGENS DO PRODUTO &amp; ORÇAMENTO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429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Barrinhas FOR FIT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69037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0A5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7852" y="2788920"/>
            <a:ext cx="768096" cy="768096"/>
          </a:xfrm>
          <a:prstGeom prst="roundRect">
            <a:avLst>
              <a:gd name="adj" fmla="val 25000"/>
            </a:avLst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52444" y="2926080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534156" y="3127248"/>
            <a:ext cx="475488" cy="32918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989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E2419"/>
                </a:solidFill>
                <a:latin typeface="Segoe UI"/>
              </a:rPr>
              <a:t>Espaço para imagem do produto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78224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C8C72"/>
                </a:solidFill>
                <a:latin typeface="Segoe UI"/>
              </a:rPr>
              <a:t>(insira aqui fotos, mockups, protótipos ou capturas de tela)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188720"/>
            <a:ext cx="448056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44383" y="1389888"/>
            <a:ext cx="237744" cy="237744"/>
          </a:xfrm>
          <a:prstGeom prst="ellipse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1403604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ORÇAMENTO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10512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CUSTO ESTIMADO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002536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R$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CUSTO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660904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R$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127248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FORNECEDOR(ES)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319272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85615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APROVAÇÃO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977639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443983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OBSERVAÇÕES SOBRE O ORÇAMENTO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636007"/>
            <a:ext cx="3931920" cy="10241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9525">
            <a:solidFill>
              <a:srgbClr val="E8C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73152" tIns="64008" wrap="square"/>
          <a:lstStyle/>
          <a:p>
            <a:pPr algn="l"/>
            <a:r>
              <a:rPr sz="1000">
                <a:solidFill>
                  <a:srgbClr val="5A3A2A"/>
                </a:solidFill>
                <a:latin typeface="Segoe UI"/>
              </a:rPr>
              <a:t>A definir junto ao fechamento de formulação e custo (etapas 2 e 3).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636007"/>
            <a:ext cx="50292" cy="1024128"/>
          </a:xfrm>
          <a:prstGeom prst="rect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60" y="6597396"/>
            <a:ext cx="8686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25603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A83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417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53A"/>
                </a:solidFill>
                <a:latin typeface="Segoe UI"/>
              </a:rPr>
              <a:t>ACOMPANHAMENTO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429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[ Nome do Projeto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280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7D8C2"/>
                </a:solidFill>
                <a:latin typeface="Segoe UI"/>
              </a:rPr>
              <a:t>PRIORIDADE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3657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1150" b="1">
                <a:solidFill>
                  <a:srgbClr val="3E2419"/>
                </a:solidFill>
                <a:latin typeface="Segoe UI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0" y="128016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E7D8C2"/>
                </a:solidFill>
                <a:latin typeface="Segoe UI"/>
              </a:rPr>
              <a:t>STATUS GERAL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0" y="365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4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1150" b="1">
                <a:solidFill>
                  <a:srgbClr val="3E2419"/>
                </a:solidFill>
                <a:latin typeface="Segoe UI"/>
              </a:rPr>
              <a:t>PLANEJAMENTO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21715"/>
            <a:ext cx="12191695" cy="365760"/>
          </a:xfrm>
          <a:prstGeom prst="rect">
            <a:avLst/>
          </a:prstGeom>
          <a:solidFill>
            <a:srgbClr val="F4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9829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E2419"/>
                </a:solidFill>
                <a:latin typeface="Segoe UI"/>
              </a:rPr>
              <a:t>Responsável: </a:t>
            </a:r>
            <a:r>
              <a:rPr sz="1000" b="0" i="0">
                <a:solidFill>
                  <a:srgbClr val="5A3A2A"/>
                </a:solidFill>
                <a:latin typeface="Segoe UI"/>
              </a:rPr>
              <a:t>—</a:t>
            </a:r>
            <a:r>
              <a:rPr sz="1000" b="1" i="0">
                <a:solidFill>
                  <a:srgbClr val="3E2419"/>
                </a:solidFill>
                <a:latin typeface="Segoe UI"/>
              </a:rPr>
              <a:t>      Data de abertura: </a:t>
            </a:r>
            <a:r>
              <a:rPr sz="1000" b="0" i="0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982980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1">
                <a:solidFill>
                  <a:srgbClr val="9C8C72"/>
                </a:solidFill>
                <a:latin typeface="Segoe UI"/>
              </a:rPr>
              <a:t>Atualizado: 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481328"/>
            <a:ext cx="5989320" cy="49560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66420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STATUS DETALHADO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1993392"/>
          <a:ext cx="5504688" cy="433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658368"/>
                <a:gridCol w="13258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ETAPA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RESPONSÁVEL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7A5238"/>
                          </a:solidFill>
                          <a:latin typeface="Segoe UI"/>
                        </a:rPr>
                        <a:t>PREVISTO</a:t>
                      </a:r>
                    </a:p>
                  </a:txBody>
                  <a:tcPr anchor="ctr" marL="64008" marR="27432" marT="9144" marB="9144">
                    <a:solidFill>
                      <a:srgbClr val="F4EAD7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1. Pesquisa de mercado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2. Desenv. da formulação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3. Custo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4. Homologação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5. Volume (comercial)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6. Engenharias e FTs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7. Criação da arte e etiquetas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8. Tabela comercial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9. Comunicado vendedores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FFFFF"/>
                    </a:solidFill>
                  </a:tcPr>
                </a:tc>
              </a:tr>
              <a:tr h="40416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E2419"/>
                          </a:solidFill>
                          <a:latin typeface="Segoe UI"/>
                        </a:rPr>
                        <a:t>10. Lançamento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E2419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5A3A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L="64008" marR="27432" marT="9144" marB="9144">
                    <a:solidFill>
                      <a:srgbClr val="F9F3E4"/>
                    </a:solidFill>
                  </a:tcPr>
                </a:tc>
              </a:tr>
            </a:tbl>
          </a:graphicData>
        </a:graphic>
      </p:graphicFrame>
      <p:sp>
        <p:nvSpPr>
          <p:cNvPr id="17" name="Oval 16"/>
          <p:cNvSpPr/>
          <p:nvPr/>
        </p:nvSpPr>
        <p:spPr>
          <a:xfrm>
            <a:off x="3394710" y="2380640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394710" y="2784805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94710" y="3188970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94710" y="3593134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94710" y="3997299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94710" y="4401464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394710" y="4805629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94710" y="5209794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94710" y="5613958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94710" y="6018123"/>
            <a:ext cx="214884" cy="2148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1481328"/>
            <a:ext cx="5349240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29984" y="1673352"/>
            <a:ext cx="237744" cy="23774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1687068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A6A12"/>
                </a:solidFill>
                <a:latin typeface="Segoe UI"/>
              </a:rPr>
              <a:t>PENDÊNCIAS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2048256"/>
            <a:ext cx="482803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127248"/>
            <a:ext cx="5349240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29984" y="3319272"/>
            <a:ext cx="237744" cy="23774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332988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D32"/>
                </a:solidFill>
                <a:latin typeface="Segoe UI"/>
              </a:rPr>
              <a:t>PRÓXIMAS 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21424" y="3694176"/>
            <a:ext cx="482803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—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1" i="0">
                <a:solidFill>
                  <a:srgbClr val="C9932E"/>
                </a:solidFill>
                <a:latin typeface="Segoe UI"/>
              </a:rPr>
              <a:t>•  </a:t>
            </a:r>
            <a:r>
              <a:rPr sz="1050" b="0" i="0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773168"/>
            <a:ext cx="5349240" cy="1664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29984" y="4965192"/>
            <a:ext cx="237744" cy="237744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4978907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OBSERVAÇÕES E COMENTÁRIOS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424" y="5349240"/>
            <a:ext cx="48280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09960" y="6597396"/>
            <a:ext cx="8686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41" name="Oval 40"/>
          <p:cNvSpPr/>
          <p:nvPr/>
        </p:nvSpPr>
        <p:spPr>
          <a:xfrm>
            <a:off x="347472" y="6656832"/>
            <a:ext cx="109728" cy="109728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Concluído</a:t>
            </a:r>
          </a:p>
        </p:txBody>
      </p:sp>
      <p:sp>
        <p:nvSpPr>
          <p:cNvPr id="43" name="Oval 42"/>
          <p:cNvSpPr/>
          <p:nvPr/>
        </p:nvSpPr>
        <p:spPr>
          <a:xfrm>
            <a:off x="1624888" y="6656832"/>
            <a:ext cx="109728" cy="109728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789480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Em andamento</a:t>
            </a:r>
          </a:p>
        </p:txBody>
      </p:sp>
      <p:sp>
        <p:nvSpPr>
          <p:cNvPr id="45" name="Oval 44"/>
          <p:cNvSpPr/>
          <p:nvPr/>
        </p:nvSpPr>
        <p:spPr>
          <a:xfrm>
            <a:off x="3157423" y="665683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2015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Não iniciado</a:t>
            </a:r>
          </a:p>
        </p:txBody>
      </p:sp>
      <p:sp>
        <p:nvSpPr>
          <p:cNvPr id="47" name="Oval 46"/>
          <p:cNvSpPr/>
          <p:nvPr/>
        </p:nvSpPr>
        <p:spPr>
          <a:xfrm>
            <a:off x="4689957" y="6656832"/>
            <a:ext cx="109728" cy="109728"/>
          </a:xfrm>
          <a:prstGeom prst="ellipse">
            <a:avLst/>
          </a:prstGeom>
          <a:solidFill>
            <a:srgbClr val="C0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54549" y="6615684"/>
            <a:ext cx="137160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E7D8C2"/>
                </a:solidFill>
                <a:latin typeface="Segoe UI"/>
              </a:rPr>
              <a:t>Bloqueado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25603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A83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417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53A"/>
                </a:solidFill>
                <a:latin typeface="Segoe UI"/>
              </a:rPr>
              <a:t>IMAGENS DO PRODUTO &amp; ORÇAMENTO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429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[ Nome do Projeto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690372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0A53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7852" y="2788920"/>
            <a:ext cx="768096" cy="768096"/>
          </a:xfrm>
          <a:prstGeom prst="roundRect">
            <a:avLst>
              <a:gd name="adj" fmla="val 25000"/>
            </a:avLst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52444" y="2926080"/>
            <a:ext cx="155448" cy="1554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3534156" y="3127248"/>
            <a:ext cx="475488" cy="32918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5989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E2419"/>
                </a:solidFill>
                <a:latin typeface="Segoe UI"/>
              </a:rPr>
              <a:t>Espaço para imagem do produto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78224"/>
            <a:ext cx="5989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C8C72"/>
                </a:solidFill>
                <a:latin typeface="Segoe UI"/>
              </a:rPr>
              <a:t>(insira aqui fotos, mockups, protótipos ou capturas de tela)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188720"/>
            <a:ext cx="448056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44383" y="1389888"/>
            <a:ext cx="237744" cy="237744"/>
          </a:xfrm>
          <a:prstGeom prst="ellipse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1" y="1403604"/>
            <a:ext cx="4114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ORÇAMENTO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810512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CUSTO ESTIMADO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002536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R$ 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CUSTO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660904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R$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127248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FORNECEDOR(ES)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319272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85615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APROVAÇÃO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977639"/>
            <a:ext cx="3931920" cy="310896"/>
          </a:xfrm>
          <a:prstGeom prst="roundRect">
            <a:avLst>
              <a:gd name="adj" fmla="val 16000"/>
            </a:avLst>
          </a:prstGeom>
          <a:solidFill>
            <a:srgbClr val="F4EAD7"/>
          </a:solidFill>
          <a:ln w="9525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rIns="45720" tIns="0" bIns="0"/>
          <a:lstStyle/>
          <a:p>
            <a:pPr algn="l"/>
            <a:r>
              <a:rPr sz="1050" b="1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443983"/>
            <a:ext cx="3931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9C8C72"/>
                </a:solidFill>
                <a:latin typeface="Segoe UI"/>
              </a:rPr>
              <a:t>OBSERVAÇÕES SOBRE O ORÇAMENTO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4636007"/>
            <a:ext cx="3931920" cy="1024128"/>
          </a:xfrm>
          <a:prstGeom prst="roundRect">
            <a:avLst>
              <a:gd name="adj" fmla="val 6000"/>
            </a:avLst>
          </a:prstGeom>
          <a:solidFill>
            <a:srgbClr val="FDF3DC"/>
          </a:solidFill>
          <a:ln w="9525">
            <a:solidFill>
              <a:srgbClr val="E8CF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73152" tIns="64008" wrap="square"/>
          <a:lstStyle/>
          <a:p>
            <a:pPr algn="l"/>
            <a:r>
              <a:rPr sz="1000">
                <a:solidFill>
                  <a:srgbClr val="5A3A2A"/>
                </a:solidFill>
                <a:latin typeface="Segoe U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636007"/>
            <a:ext cx="50292" cy="1024128"/>
          </a:xfrm>
          <a:prstGeom prst="rect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60" y="6597396"/>
            <a:ext cx="8686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25603"/>
          </a:xfrm>
          <a:prstGeom prst="rect">
            <a:avLst/>
          </a:prstGeom>
          <a:solidFill>
            <a:srgbClr val="C9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554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A832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417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A53A"/>
                </a:solidFill>
                <a:latin typeface="Segoe UI"/>
              </a:rPr>
              <a:t>GUIA RÁPIDO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34290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Segoe UI"/>
              </a:rPr>
              <a:t>Como usar este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188720"/>
            <a:ext cx="690372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PASSO A PASSO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64008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1.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Novo projeto: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selecione os dois slides-modelo “[ Nome do Projeto ]”, duplique (Ctrl+D) e mova o par para o final.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2.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Cabeçalho: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troque o nome do projeto, a prioridade e o status geral (a caixinha dourada é só texto + cor de preenchimento).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3.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Status das etapas: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clique na bolinha → guia Formatar → Preenchimento da Forma → escolha a cor (verde, âmbar, vermelho ou branco). Para o “✓”, copie uma bolinha verde já pronta.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4.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Tabela: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edite etapa, responsável e previsão como texto normal; linhas podem ser adicionadas ou removidas.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5.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Slide de imagens: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arraste a foto para dentro da área tracejada (ou Inserir → Imagens) e apague o ícone de espaço reservado.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100" b="1" i="0">
                <a:solidFill>
                  <a:srgbClr val="C9932E"/>
                </a:solidFill>
                <a:latin typeface="Segoe UI"/>
              </a:rPr>
              <a:t>6.  </a:t>
            </a:r>
            <a:r>
              <a:rPr sz="1100" b="1" i="0">
                <a:solidFill>
                  <a:srgbClr val="3E2419"/>
                </a:solidFill>
                <a:latin typeface="Segoe UI"/>
              </a:rPr>
              <a:t>Orçamento:</a:t>
            </a:r>
            <a:r>
              <a:rPr sz="1100" b="0" i="0">
                <a:solidFill>
                  <a:srgbClr val="5A3A2A"/>
                </a:solidFill>
                <a:latin typeface="Segoe UI"/>
              </a:rPr>
              <a:t> preencha os campos de custo, fornecedor e aprovação; use a caixa amarela para observações.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188720"/>
            <a:ext cx="4480560" cy="5120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3D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3" y="1389888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LEGENDA DE STATUS</a:t>
            </a:r>
          </a:p>
        </p:txBody>
      </p:sp>
      <p:sp>
        <p:nvSpPr>
          <p:cNvPr id="12" name="Oval 11"/>
          <p:cNvSpPr/>
          <p:nvPr/>
        </p:nvSpPr>
        <p:spPr>
          <a:xfrm>
            <a:off x="7690104" y="1874519"/>
            <a:ext cx="256032" cy="256032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874519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Concluído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112263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C8C72"/>
                </a:solidFill>
                <a:latin typeface="Segoe UI"/>
              </a:rPr>
              <a:t>Etapa finalizada e validada.</a:t>
            </a:r>
          </a:p>
        </p:txBody>
      </p:sp>
      <p:sp>
        <p:nvSpPr>
          <p:cNvPr id="15" name="Oval 14"/>
          <p:cNvSpPr/>
          <p:nvPr/>
        </p:nvSpPr>
        <p:spPr>
          <a:xfrm>
            <a:off x="7690104" y="2532887"/>
            <a:ext cx="256032" cy="256032"/>
          </a:xfrm>
          <a:prstGeom prst="ellipse">
            <a:avLst/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53288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Em andamento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770631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C8C72"/>
                </a:solidFill>
                <a:latin typeface="Segoe UI"/>
              </a:rPr>
              <a:t>Etapa em execução.</a:t>
            </a:r>
          </a:p>
        </p:txBody>
      </p:sp>
      <p:sp>
        <p:nvSpPr>
          <p:cNvPr id="18" name="Oval 17"/>
          <p:cNvSpPr/>
          <p:nvPr/>
        </p:nvSpPr>
        <p:spPr>
          <a:xfrm>
            <a:off x="7690104" y="3191255"/>
            <a:ext cx="256032" cy="256032"/>
          </a:xfrm>
          <a:prstGeom prst="ellipse">
            <a:avLst/>
          </a:prstGeom>
          <a:solidFill>
            <a:srgbClr val="C03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191255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Bloqueado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428999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C8C72"/>
                </a:solidFill>
                <a:latin typeface="Segoe UI"/>
              </a:rPr>
              <a:t>Travado — depende de decisão ou terceiro.</a:t>
            </a:r>
          </a:p>
        </p:txBody>
      </p:sp>
      <p:sp>
        <p:nvSpPr>
          <p:cNvPr id="21" name="Oval 20"/>
          <p:cNvSpPr/>
          <p:nvPr/>
        </p:nvSpPr>
        <p:spPr>
          <a:xfrm>
            <a:off x="7690104" y="3849623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DB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849623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Não iniciado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087367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C8C72"/>
                </a:solidFill>
                <a:latin typeface="Segoe UI"/>
              </a:rPr>
              <a:t>Ainda não começou.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4617720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E2419"/>
                </a:solidFill>
                <a:latin typeface="Segoe UI"/>
              </a:rPr>
              <a:t>STATUS GERAL (cabeçalho)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44383" y="4956048"/>
            <a:ext cx="1316736" cy="347472"/>
          </a:xfrm>
          <a:prstGeom prst="roundRect">
            <a:avLst>
              <a:gd name="adj" fmla="val 50000"/>
            </a:avLst>
          </a:prstGeom>
          <a:solidFill>
            <a:srgbClr val="E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950" b="1">
                <a:solidFill>
                  <a:srgbClr val="2A1B12"/>
                </a:solidFill>
                <a:latin typeface="Segoe UI"/>
              </a:rPr>
              <a:t>EM ANDAMENTO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7424" y="4956048"/>
            <a:ext cx="1083564" cy="347472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CONCLUÍDO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7292" y="4956048"/>
            <a:ext cx="928116" cy="347472"/>
          </a:xfrm>
          <a:prstGeom prst="roundRect">
            <a:avLst>
              <a:gd name="adj" fmla="val 50000"/>
            </a:avLst>
          </a:prstGeom>
          <a:solidFill>
            <a:srgbClr val="CDB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950" b="1">
                <a:solidFill>
                  <a:srgbClr val="2A1B12"/>
                </a:solidFill>
                <a:latin typeface="Segoe UI"/>
              </a:rPr>
              <a:t>PAUSADO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44383" y="5431536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FBE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950" b="1">
                <a:solidFill>
                  <a:srgbClr val="9A6A12"/>
                </a:solidFill>
                <a:latin typeface="Segoe UI"/>
              </a:rPr>
              <a:t>EM TESTE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6528" y="5431536"/>
            <a:ext cx="1316736" cy="347472"/>
          </a:xfrm>
          <a:prstGeom prst="roundRect">
            <a:avLst>
              <a:gd name="adj" fmla="val 50000"/>
            </a:avLst>
          </a:prstGeom>
          <a:solidFill>
            <a:srgbClr val="F4E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none"/>
          <a:lstStyle/>
          <a:p>
            <a:pPr algn="ctr"/>
            <a:r>
              <a:rPr sz="950" b="1">
                <a:solidFill>
                  <a:srgbClr val="3E2419"/>
                </a:solidFill>
                <a:latin typeface="Segoe UI"/>
              </a:rPr>
              <a:t>PLANEJAMENTO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3E2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9960" y="6597396"/>
            <a:ext cx="8686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100" b="1" i="1">
                <a:solidFill>
                  <a:srgbClr val="E0A53A"/>
                </a:solidFill>
                <a:latin typeface="Segoe Script"/>
              </a:rPr>
              <a:t>Divine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