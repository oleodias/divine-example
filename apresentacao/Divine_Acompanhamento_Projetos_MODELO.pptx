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hyperlink" Target="https://www.exemplo.com/pesquisa-barrinha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0A53A"/>
                </a:solidFill>
                <a:latin typeface="Segoe UI"/>
              </a:rPr>
              <a:t>P &amp; D   ·   P E S Q U I S A   &amp;   D E S E N V O L V I M E N T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Acompanhamento</a:t>
            </a:r>
          </a:p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E7D8C2"/>
                </a:solidFill>
                <a:latin typeface="Segoe UI"/>
              </a:rPr>
              <a:t>Status do portfólio de novos produtos — andamento, pendências e próximos passos, projeto a projeto.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572000"/>
            <a:ext cx="3017520" cy="47548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300" b="1">
                <a:solidFill>
                  <a:srgbClr val="F4E6CC"/>
                </a:solidFill>
                <a:latin typeface="Segoe UI"/>
              </a:rPr>
              <a:t>Reunião  ·  Junho / 2026</a:t>
            </a:r>
          </a:p>
        </p:txBody>
      </p:sp>
      <p:pic>
        <p:nvPicPr>
          <p:cNvPr id="8" name="Picture 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49240"/>
            <a:ext cx="2799184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6355080"/>
            <a:ext cx="27991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3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35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ALTA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Paloma e Isabele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15/06/2026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955547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  <a:hlinkClick r:id="rId4"/>
              </a:rPr>
              <a:t>🔎  Pesquisa de mercado  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17/07/2026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1993392"/>
          <a:ext cx="5504688" cy="4334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Trade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08/06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3. Custo e preço de venda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Camila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4. Viabilidade produtiva/teste em linha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Carla e Samuel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03/08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5. Homologação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CQ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17/07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6. Volume (comercial)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Mateus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7. Engenharias e FTs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8.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9. Compras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10.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17/07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11. Produção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12. Comunicado vendedores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13. Campanha de lançamento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Oval 17"/>
          <p:cNvSpPr/>
          <p:nvPr/>
        </p:nvSpPr>
        <p:spPr>
          <a:xfrm>
            <a:off x="3394710" y="233400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Oval 18"/>
          <p:cNvSpPr/>
          <p:nvPr/>
        </p:nvSpPr>
        <p:spPr>
          <a:xfrm>
            <a:off x="3394710" y="2644901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2955797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26669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2" name="Oval 21"/>
          <p:cNvSpPr/>
          <p:nvPr/>
        </p:nvSpPr>
        <p:spPr>
          <a:xfrm>
            <a:off x="3394710" y="3577590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3" name="Oval 22"/>
          <p:cNvSpPr/>
          <p:nvPr/>
        </p:nvSpPr>
        <p:spPr>
          <a:xfrm>
            <a:off x="3394710" y="388848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4199382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4510278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Oval 25"/>
          <p:cNvSpPr/>
          <p:nvPr/>
        </p:nvSpPr>
        <p:spPr>
          <a:xfrm>
            <a:off x="3394710" y="482117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94710" y="513207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94710" y="544296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94710" y="575386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94710" y="60647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Aguardar fechamento de formulação;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Moinho de rolos;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Concluir ajustes no moinho de rolos;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Fechar formulações;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Projeto dentro do cronograma.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A definir junto ao fechamento de formulação e custo (etapas 2 e 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3. Custo e preço de venda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4. Viabilidade produtiva/teste em linha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5. Homologação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6. Volume (comercial)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7. Engenharias e FTs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8.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9. Compras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10.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11. Produção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12. Comunicado vendedores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13. Campanha de lançamento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3400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94710" y="2644901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2955797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2666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57759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388848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19938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451027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482117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51320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94710" y="544296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94710" y="575386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94710" y="60647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GUIA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Como usar este modelo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PASSO A PASSO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64008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1.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Novo projeto: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selecione os dois slides-modelo “[ Nome do Projeto ]”, duplique (Ctrl+D) e mova o par para o final.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2.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Cabeçalho: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troque o nome do projeto, a prioridade e o status geral (a caixinha dourada é só texto + cor de preenchimento).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3.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Status das etapas: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clique na bolinha → guia Formatar → Preenchimento da Forma → escolha a cor (verde, âmbar, vermelho ou branco). Para o “✓”, copie uma bolinha verde já pronta.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4.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Tabela: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edite etapa, responsável e previsão como texto normal; linhas podem ser adicionadas ou removidas.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5.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Slide de imagens: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arraste a foto para dentro da área tracejada (ou Inserir → Imagens) e apague o ícone de espaço reservado.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6.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Orçamento: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preencha os campos de custo, fornecedor e aprovação; use a caixa amarela para observações.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3898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LEGENDA DE STATUS</a:t>
            </a:r>
          </a:p>
        </p:txBody>
      </p:sp>
      <p:sp>
        <p:nvSpPr>
          <p:cNvPr id="12" name="Oval 11"/>
          <p:cNvSpPr/>
          <p:nvPr/>
        </p:nvSpPr>
        <p:spPr>
          <a:xfrm>
            <a:off x="7690104" y="1874519"/>
            <a:ext cx="256032" cy="256032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Concluído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11226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finalizada e validada.</a:t>
            </a:r>
          </a:p>
        </p:txBody>
      </p:sp>
      <p:sp>
        <p:nvSpPr>
          <p:cNvPr id="15" name="Oval 14"/>
          <p:cNvSpPr/>
          <p:nvPr/>
        </p:nvSpPr>
        <p:spPr>
          <a:xfrm>
            <a:off x="7690104" y="2532887"/>
            <a:ext cx="256032" cy="256032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53288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Em andamento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70631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em execução.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7690104" y="3191255"/>
            <a:ext cx="256032" cy="256032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912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Bloqueado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2899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Travado — depende de decisão ou terceiro.</a:t>
            </a:r>
          </a:p>
        </p:txBody>
      </p:sp>
      <p:sp>
        <p:nvSpPr>
          <p:cNvPr id="21" name="Oval 20"/>
          <p:cNvSpPr/>
          <p:nvPr/>
        </p:nvSpPr>
        <p:spPr>
          <a:xfrm>
            <a:off x="7690104" y="3849623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84962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Não iniciado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08736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Ainda não começou.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4617720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GERAL (cabeçalho)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44383" y="4956048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4956048"/>
            <a:ext cx="1083564" cy="34747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CONCLUÍDO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37292" y="4956048"/>
            <a:ext cx="928116" cy="347472"/>
          </a:xfrm>
          <a:prstGeom prst="roundRect">
            <a:avLst>
              <a:gd name="adj" fmla="val 50000"/>
            </a:avLst>
          </a:prstGeom>
          <a:solidFill>
            <a:srgbClr val="CDB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PAUSADO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44383" y="5431536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96528" y="5431536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3317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Muito obrigada!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7D8C2"/>
                </a:solidFill>
                <a:latin typeface="Segoe UI"/>
              </a:rPr>
              <a:t>Divine Chocolates · Pesquisa &amp; Desenvolvimento</a:t>
            </a:r>
          </a:p>
        </p:txBody>
      </p:sp>
      <p:pic>
        <p:nvPicPr>
          <p:cNvPr id="6" name="Picture 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074920"/>
            <a:ext cx="2519265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961888"/>
            <a:ext cx="251926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3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