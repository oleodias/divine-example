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41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pa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0A53A"/>
                </a:solidFill>
                <a:latin typeface="Segoe UI"/>
              </a:rPr>
              <a:t>P &amp; D   ·   P E S Q U I S A   &amp;   D E S E N V O L V I M E N T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FFFFFF"/>
                </a:solidFill>
                <a:latin typeface="Segoe UI"/>
              </a:rPr>
              <a:t>Acompanhamento</a:t>
            </a:r>
          </a:p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FFFFFF"/>
                </a:solidFill>
                <a:latin typeface="Segoe UI"/>
              </a:rPr>
              <a:t>de Projetos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03320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E7D8C2"/>
                </a:solidFill>
                <a:latin typeface="Segoe UI"/>
              </a:rPr>
              <a:t>Status do portfólio de novos produtos — andamento, pendências e próximos passos, projeto a projeto.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572000"/>
            <a:ext cx="3017520" cy="47548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C99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300" b="1">
                <a:solidFill>
                  <a:srgbClr val="F4E6CC"/>
                </a:solidFill>
                <a:latin typeface="Segoe UI"/>
              </a:rPr>
              <a:t>Reunião  ·  Junho / 2026</a:t>
            </a:r>
          </a:p>
        </p:txBody>
      </p:sp>
      <p:pic>
        <p:nvPicPr>
          <p:cNvPr id="8" name="Picture 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349240"/>
            <a:ext cx="2799184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" y="6355080"/>
            <a:ext cx="27991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E7D8C2"/>
                </a:solidFill>
                <a:latin typeface="Segoe UI"/>
              </a:rPr>
              <a:t>C H O C O L A T E   D E   V E R D A D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ACOMPANHAMENTO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Barrinhas FOR 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280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PRIORIDADE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65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ALTA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28016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STATUS GERAL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0" y="365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2A1B12"/>
                </a:solidFill>
                <a:latin typeface="Segoe UI"/>
              </a:rPr>
              <a:t>EM ANDAMENTO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21715"/>
            <a:ext cx="12191695" cy="365760"/>
          </a:xfrm>
          <a:prstGeom prst="rect">
            <a:avLst/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8298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2419"/>
                </a:solidFill>
                <a:latin typeface="Segoe UI"/>
              </a:rPr>
              <a:t>Responsável: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Paloma e Isabele</a:t>
            </a:r>
            <a:r>
              <a:rPr sz="1000" b="1" i="0">
                <a:solidFill>
                  <a:srgbClr val="3E2419"/>
                </a:solidFill>
                <a:latin typeface="Segoe UI"/>
              </a:rPr>
              <a:t>      Data de abertura: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15/06/2026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98298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1">
                <a:solidFill>
                  <a:srgbClr val="9C8C72"/>
                </a:solidFill>
                <a:latin typeface="Segoe UI"/>
              </a:rPr>
              <a:t>Atualizado: 30/06/2026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1481328"/>
            <a:ext cx="5989320" cy="4956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6420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DETALHADO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1993392"/>
          <a:ext cx="5504688" cy="4334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658368"/>
                <a:gridCol w="13258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ETAPA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RESPONSÁVEL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PREVISTO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1. Pesquisa de mercado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Trade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20/06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2. Desenv. da formulação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10/07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3. Custo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Camila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4. Homologação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CQ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5. Volume (comercial)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Mateus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6. Engenharias e FTs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15/07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7. Criação da arte e etiquetas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8. Tabela comercial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9. Comunicado vendedores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10. Lançamento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3394710" y="2380640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8" name="Oval 17"/>
          <p:cNvSpPr/>
          <p:nvPr/>
        </p:nvSpPr>
        <p:spPr>
          <a:xfrm>
            <a:off x="3394710" y="2784805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94710" y="318897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94710" y="359313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94710" y="399729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94710" y="4401464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94710" y="480562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94710" y="520979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94710" y="561395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94710" y="6018123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92240" y="148132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9984" y="167335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168706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A6A12"/>
                </a:solidFill>
                <a:latin typeface="Segoe UI"/>
              </a:rPr>
              <a:t>PENDÊNCIAS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1424" y="204825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Aguardar fechamento de formulação;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Moinho de rolos;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12724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3319272"/>
            <a:ext cx="237744" cy="23774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333298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Segoe UI"/>
              </a:rPr>
              <a:t>PRÓXIMAS 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369417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Concluir ajustes no moinho de rolos;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Fechar formulações;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4773168"/>
            <a:ext cx="5349240" cy="16642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29984" y="496519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68312" y="4978907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OBSERVAÇÕES E COMENTÁRIOS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5349240"/>
            <a:ext cx="48280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A3A2A"/>
                </a:solidFill>
                <a:latin typeface="Segoe UI"/>
              </a:rPr>
              <a:t>Projeto dentro do cronograma. Custo e homologação só iniciam após o fechamento da formulação (etapas 2 e 6).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347472" y="6656832"/>
            <a:ext cx="109728" cy="10972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Concluído</a:t>
            </a:r>
          </a:p>
        </p:txBody>
      </p:sp>
      <p:sp>
        <p:nvSpPr>
          <p:cNvPr id="43" name="Oval 42"/>
          <p:cNvSpPr/>
          <p:nvPr/>
        </p:nvSpPr>
        <p:spPr>
          <a:xfrm>
            <a:off x="1624888" y="6656832"/>
            <a:ext cx="109728" cy="109728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89480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Em andamento</a:t>
            </a:r>
          </a:p>
        </p:txBody>
      </p:sp>
      <p:sp>
        <p:nvSpPr>
          <p:cNvPr id="45" name="Oval 44"/>
          <p:cNvSpPr/>
          <p:nvPr/>
        </p:nvSpPr>
        <p:spPr>
          <a:xfrm>
            <a:off x="3157423" y="6656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22015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Não iniciado</a:t>
            </a:r>
          </a:p>
        </p:txBody>
      </p:sp>
      <p:sp>
        <p:nvSpPr>
          <p:cNvPr id="47" name="Oval 46"/>
          <p:cNvSpPr/>
          <p:nvPr/>
        </p:nvSpPr>
        <p:spPr>
          <a:xfrm>
            <a:off x="4689957" y="6656832"/>
            <a:ext cx="109728" cy="109728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54549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Bloqueado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390120" y="1481328"/>
            <a:ext cx="1417320" cy="2834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499848" y="1591056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E2419"/>
                </a:solidFill>
                <a:latin typeface="Segoe UI"/>
              </a:rPr>
              <a:t>PALETA</a:t>
            </a:r>
          </a:p>
          <a:p>
            <a:pPr algn="l"/>
            <a:r>
              <a:rPr sz="800" b="0" i="1">
                <a:solidFill>
                  <a:srgbClr val="9C8C72"/>
                </a:solidFill>
                <a:latin typeface="Segoe UI"/>
              </a:rPr>
              <a:t>copie e cole ↓</a:t>
            </a:r>
          </a:p>
        </p:txBody>
      </p:sp>
      <p:sp>
        <p:nvSpPr>
          <p:cNvPr id="51" name="Oval 50"/>
          <p:cNvSpPr/>
          <p:nvPr/>
        </p:nvSpPr>
        <p:spPr>
          <a:xfrm>
            <a:off x="12556998" y="215112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47320" y="2167128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Concluído</a:t>
            </a:r>
          </a:p>
        </p:txBody>
      </p:sp>
      <p:sp>
        <p:nvSpPr>
          <p:cNvPr id="53" name="Oval 52"/>
          <p:cNvSpPr/>
          <p:nvPr/>
        </p:nvSpPr>
        <p:spPr>
          <a:xfrm>
            <a:off x="12556998" y="266319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847320" y="2679192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Andamento</a:t>
            </a:r>
          </a:p>
        </p:txBody>
      </p:sp>
      <p:sp>
        <p:nvSpPr>
          <p:cNvPr id="55" name="Oval 54"/>
          <p:cNvSpPr/>
          <p:nvPr/>
        </p:nvSpPr>
        <p:spPr>
          <a:xfrm>
            <a:off x="12556998" y="317525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47320" y="3191256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Bloqueado</a:t>
            </a:r>
          </a:p>
        </p:txBody>
      </p:sp>
      <p:sp>
        <p:nvSpPr>
          <p:cNvPr id="57" name="Oval 56"/>
          <p:cNvSpPr/>
          <p:nvPr/>
        </p:nvSpPr>
        <p:spPr>
          <a:xfrm>
            <a:off x="12556998" y="368731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847320" y="3703320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Não inic.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IMAGENS DO PRODUTO &amp; ORÇAMENTO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Barrinhas FOR FIT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E0A5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7852" y="2788920"/>
            <a:ext cx="768096" cy="768096"/>
          </a:xfrm>
          <a:prstGeom prst="roundRect">
            <a:avLst>
              <a:gd name="adj" fmla="val 25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52444" y="2926080"/>
            <a:ext cx="155448" cy="1554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3534156" y="3127248"/>
            <a:ext cx="475488" cy="32918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989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E2419"/>
                </a:solidFill>
                <a:latin typeface="Segoe UI"/>
              </a:rPr>
              <a:t>Espaço para imagem do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7822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C8C72"/>
                </a:solidFill>
                <a:latin typeface="Segoe UI"/>
              </a:rPr>
              <a:t>(insira aqui fotos, mockups, protótipos ou capturas de tela)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44383" y="1389888"/>
            <a:ext cx="237744" cy="237744"/>
          </a:xfrm>
          <a:prstGeom prst="ellipse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140360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ORÇAMENTO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10512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002536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68880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REAL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660904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127248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FORNECEDOR(ES)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319272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785615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APROVAÇÃO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443983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OBSERVAÇÕES SOBRE O ORÇAMENTO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636007"/>
            <a:ext cx="393192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9525">
            <a:solidFill>
              <a:srgbClr val="E8CF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73152" tIns="64008" wrap="square"/>
          <a:lstStyle/>
          <a:p>
            <a:pPr algn="l"/>
            <a:r>
              <a:rPr sz="1000">
                <a:solidFill>
                  <a:srgbClr val="5A3A2A"/>
                </a:solidFill>
                <a:latin typeface="Segoe UI"/>
              </a:rPr>
              <a:t>A definir junto ao fechamento de formulação e custo (etapas 2 e 3).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636007"/>
            <a:ext cx="50292" cy="1024128"/>
          </a:xfrm>
          <a:prstGeom prst="rect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ACOMPANHAMENTO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[ Nome do Projeto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280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PRIORIDADE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65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28016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STATUS GERAL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0" y="365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PLANEJAMENTO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21715"/>
            <a:ext cx="12191695" cy="365760"/>
          </a:xfrm>
          <a:prstGeom prst="rect">
            <a:avLst/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8298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2419"/>
                </a:solidFill>
                <a:latin typeface="Segoe UI"/>
              </a:rPr>
              <a:t>Responsável: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—</a:t>
            </a:r>
            <a:r>
              <a:rPr sz="1000" b="1" i="0">
                <a:solidFill>
                  <a:srgbClr val="3E2419"/>
                </a:solidFill>
                <a:latin typeface="Segoe UI"/>
              </a:rPr>
              <a:t>      Data de abertura: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98298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1">
                <a:solidFill>
                  <a:srgbClr val="9C8C72"/>
                </a:solidFill>
                <a:latin typeface="Segoe UI"/>
              </a:rPr>
              <a:t>Atualizado: 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1481328"/>
            <a:ext cx="5989320" cy="4956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6420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DETALHADO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1993392"/>
          <a:ext cx="5504688" cy="4334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658368"/>
                <a:gridCol w="13258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ETAPA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RESPONSÁVEL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PREVISTO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1. Pesquisa de mercado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2. Desenv. da formulação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3. Custo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4. Homologação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5. Volume (comercial)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6. Engenharias e FTs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7. Criação da arte e etiquetas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8. Tabela comercial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9. Comunicado vendedores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10. Lançamento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3394710" y="238064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94710" y="2784805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94710" y="318897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94710" y="359313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94710" y="399729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94710" y="440146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94710" y="480562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94710" y="520979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94710" y="561395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94710" y="6018123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92240" y="148132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9984" y="167335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168706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A6A12"/>
                </a:solidFill>
                <a:latin typeface="Segoe UI"/>
              </a:rPr>
              <a:t>PENDÊNCIAS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1424" y="204825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12724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3319272"/>
            <a:ext cx="237744" cy="23774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333298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Segoe UI"/>
              </a:rPr>
              <a:t>PRÓXIMAS 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369417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4773168"/>
            <a:ext cx="5349240" cy="16642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29984" y="496519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68312" y="4978907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OBSERVAÇÕES E COMENTÁRIOS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5349240"/>
            <a:ext cx="48280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347472" y="6656832"/>
            <a:ext cx="109728" cy="10972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Concluído</a:t>
            </a:r>
          </a:p>
        </p:txBody>
      </p:sp>
      <p:sp>
        <p:nvSpPr>
          <p:cNvPr id="43" name="Oval 42"/>
          <p:cNvSpPr/>
          <p:nvPr/>
        </p:nvSpPr>
        <p:spPr>
          <a:xfrm>
            <a:off x="1624888" y="6656832"/>
            <a:ext cx="109728" cy="109728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89480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Em andamento</a:t>
            </a:r>
          </a:p>
        </p:txBody>
      </p:sp>
      <p:sp>
        <p:nvSpPr>
          <p:cNvPr id="45" name="Oval 44"/>
          <p:cNvSpPr/>
          <p:nvPr/>
        </p:nvSpPr>
        <p:spPr>
          <a:xfrm>
            <a:off x="3157423" y="6656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22015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Não iniciado</a:t>
            </a:r>
          </a:p>
        </p:txBody>
      </p:sp>
      <p:sp>
        <p:nvSpPr>
          <p:cNvPr id="47" name="Oval 46"/>
          <p:cNvSpPr/>
          <p:nvPr/>
        </p:nvSpPr>
        <p:spPr>
          <a:xfrm>
            <a:off x="4689957" y="6656832"/>
            <a:ext cx="109728" cy="109728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54549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Bloqueado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390120" y="1481328"/>
            <a:ext cx="1417320" cy="2834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499848" y="1591056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E2419"/>
                </a:solidFill>
                <a:latin typeface="Segoe UI"/>
              </a:rPr>
              <a:t>PALETA</a:t>
            </a:r>
          </a:p>
          <a:p>
            <a:pPr algn="l"/>
            <a:r>
              <a:rPr sz="800" b="0" i="1">
                <a:solidFill>
                  <a:srgbClr val="9C8C72"/>
                </a:solidFill>
                <a:latin typeface="Segoe UI"/>
              </a:rPr>
              <a:t>copie e cole ↓</a:t>
            </a:r>
          </a:p>
        </p:txBody>
      </p:sp>
      <p:sp>
        <p:nvSpPr>
          <p:cNvPr id="51" name="Oval 50"/>
          <p:cNvSpPr/>
          <p:nvPr/>
        </p:nvSpPr>
        <p:spPr>
          <a:xfrm>
            <a:off x="12556998" y="215112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47320" y="2167128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Concluído</a:t>
            </a:r>
          </a:p>
        </p:txBody>
      </p:sp>
      <p:sp>
        <p:nvSpPr>
          <p:cNvPr id="53" name="Oval 52"/>
          <p:cNvSpPr/>
          <p:nvPr/>
        </p:nvSpPr>
        <p:spPr>
          <a:xfrm>
            <a:off x="12556998" y="266319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847320" y="2679192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Andamento</a:t>
            </a:r>
          </a:p>
        </p:txBody>
      </p:sp>
      <p:sp>
        <p:nvSpPr>
          <p:cNvPr id="55" name="Oval 54"/>
          <p:cNvSpPr/>
          <p:nvPr/>
        </p:nvSpPr>
        <p:spPr>
          <a:xfrm>
            <a:off x="12556998" y="317525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47320" y="3191256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Bloqueado</a:t>
            </a:r>
          </a:p>
        </p:txBody>
      </p:sp>
      <p:sp>
        <p:nvSpPr>
          <p:cNvPr id="57" name="Oval 56"/>
          <p:cNvSpPr/>
          <p:nvPr/>
        </p:nvSpPr>
        <p:spPr>
          <a:xfrm>
            <a:off x="12556998" y="368731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847320" y="3703320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Não inic.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IMAGENS DO PRODUTO &amp; ORÇAMENTO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[ Nome do Projeto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E0A5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7852" y="2788920"/>
            <a:ext cx="768096" cy="768096"/>
          </a:xfrm>
          <a:prstGeom prst="roundRect">
            <a:avLst>
              <a:gd name="adj" fmla="val 25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52444" y="2926080"/>
            <a:ext cx="155448" cy="1554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3534156" y="3127248"/>
            <a:ext cx="475488" cy="32918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989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E2419"/>
                </a:solidFill>
                <a:latin typeface="Segoe UI"/>
              </a:rPr>
              <a:t>Espaço para imagem do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7822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C8C72"/>
                </a:solidFill>
                <a:latin typeface="Segoe UI"/>
              </a:rPr>
              <a:t>(insira aqui fotos, mockups, protótipos ou capturas de tela)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44383" y="1389888"/>
            <a:ext cx="237744" cy="237744"/>
          </a:xfrm>
          <a:prstGeom prst="ellipse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140360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ORÇAMENTO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10512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002536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68880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REAL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660904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127248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FORNECEDOR(ES)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319272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785615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APROVAÇÃO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443983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OBSERVAÇÕES SOBRE O ORÇAMENTO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636007"/>
            <a:ext cx="393192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9525">
            <a:solidFill>
              <a:srgbClr val="E8CF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73152" tIns="64008" wrap="square"/>
          <a:lstStyle/>
          <a:p>
            <a:pPr algn="l"/>
            <a:r>
              <a:rPr sz="100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636007"/>
            <a:ext cx="50292" cy="1024128"/>
          </a:xfrm>
          <a:prstGeom prst="rect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GUIA RÁPIDO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Como usar este modelo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PASSO A PASSO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64008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1.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Novo projeto: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selecione os dois slides-modelo “[ Nome do Projeto ]”, duplique (Ctrl+D) e mova o par para o final.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2.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Cabeçalho: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troque o nome do projeto, a prioridade e o status geral (a caixinha dourada é só texto + cor de preenchimento).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3.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Status das etapas: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clique na bolinha → guia Formatar → Preenchimento da Forma → escolha a cor (verde, âmbar, vermelho ou branco). Para o “✓”, copie uma bolinha verde já pronta.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4.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Tabela: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edite etapa, responsável e previsão como texto normal; linhas podem ser adicionadas ou removidas.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5.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Slide de imagens: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arraste a foto para dentro da área tracejada (ou Inserir → Imagens) e apague o ícone de espaço reservado.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6.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Orçamento: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preencha os campos de custo, fornecedor e aprovação; use a caixa amarela para observações.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389888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LEGENDA DE STATUS</a:t>
            </a:r>
          </a:p>
        </p:txBody>
      </p:sp>
      <p:sp>
        <p:nvSpPr>
          <p:cNvPr id="12" name="Oval 11"/>
          <p:cNvSpPr/>
          <p:nvPr/>
        </p:nvSpPr>
        <p:spPr>
          <a:xfrm>
            <a:off x="7690104" y="1874519"/>
            <a:ext cx="256032" cy="256032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7451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Concluído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112263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Etapa finalizada e validada.</a:t>
            </a:r>
          </a:p>
        </p:txBody>
      </p:sp>
      <p:sp>
        <p:nvSpPr>
          <p:cNvPr id="15" name="Oval 14"/>
          <p:cNvSpPr/>
          <p:nvPr/>
        </p:nvSpPr>
        <p:spPr>
          <a:xfrm>
            <a:off x="7690104" y="2532887"/>
            <a:ext cx="256032" cy="256032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2532887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Em andamento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770631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Etapa em execução.</a:t>
            </a:r>
          </a:p>
        </p:txBody>
      </p:sp>
      <p:sp>
        <p:nvSpPr>
          <p:cNvPr id="18" name="Oval 17"/>
          <p:cNvSpPr/>
          <p:nvPr/>
        </p:nvSpPr>
        <p:spPr>
          <a:xfrm>
            <a:off x="7690104" y="3191255"/>
            <a:ext cx="256032" cy="256032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1912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Bloqueado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42899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Travado — depende de decisão ou terceiro.</a:t>
            </a:r>
          </a:p>
        </p:txBody>
      </p:sp>
      <p:sp>
        <p:nvSpPr>
          <p:cNvPr id="21" name="Oval 20"/>
          <p:cNvSpPr/>
          <p:nvPr/>
        </p:nvSpPr>
        <p:spPr>
          <a:xfrm>
            <a:off x="7690104" y="3849623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3849623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Não iniciado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087367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Ainda não começou.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3" y="4617720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GERAL (cabeçalho)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44383" y="4956048"/>
            <a:ext cx="1316736" cy="347472"/>
          </a:xfrm>
          <a:prstGeom prst="roundRect">
            <a:avLst>
              <a:gd name="adj" fmla="val 50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2A1B12"/>
                </a:solidFill>
                <a:latin typeface="Segoe UI"/>
              </a:rPr>
              <a:t>EM ANDAMENTO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7424" y="4956048"/>
            <a:ext cx="1083564" cy="347472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CONCLUÍDO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37292" y="4956048"/>
            <a:ext cx="928116" cy="347472"/>
          </a:xfrm>
          <a:prstGeom prst="roundRect">
            <a:avLst>
              <a:gd name="adj" fmla="val 50000"/>
            </a:avLst>
          </a:prstGeom>
          <a:solidFill>
            <a:srgbClr val="CDB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2A1B12"/>
                </a:solidFill>
                <a:latin typeface="Segoe UI"/>
              </a:rPr>
              <a:t>PAUSADO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44383" y="5431536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BE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9A6A12"/>
                </a:solidFill>
                <a:latin typeface="Segoe UI"/>
              </a:rPr>
              <a:t>EM TESTE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96528" y="5431536"/>
            <a:ext cx="1316736" cy="347472"/>
          </a:xfrm>
          <a:prstGeom prst="roundRect">
            <a:avLst>
              <a:gd name="adj" fmla="val 50000"/>
            </a:avLst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3E2419"/>
                </a:solidFill>
                <a:latin typeface="Segoe UI"/>
              </a:rPr>
              <a:t>PLANEJAMENTO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